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我的数据库课程设计项目——图书馆管理系统。本次汇报将围绕系统的设计初衷、技术实现、优缺点分析以及未来展望展开。希望通过这次分享，能清晰地展示我对数据库知识的理解和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本次汇报将分为七个部分。首先，我会介绍项目的设计初衷；接着，阐述系统所采用的技术栈；然后，深入剖析系统的核心数据模型和数据库设计；之后，会展示部分核心代码；最后，对当前系统的缺点进行分析，并对未来的优化方向做出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起点源于对传统人工管理模式的观察。如图所示，这种模式常常伴随着效率低下、数据混乱和信息孤岛等问题。管理员疲于应付繁琐的手工操作，而读者也无法获得便捷的服务。这些痛点正是我们开发新系统的直接动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因此，我们的项目目标非常明确：化繁为简，打造一个轻量易用的系统；实现流程闭环，覆盖核心业务；并通过这个项目，深入实践和掌握JavaFX、MySQL和JDBC等关键技术，将理论知识应用于实际开发中。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为了实现上述目标，我们选择了一套成熟的技术栈。界面层使用JavaFX，数据库采用MySQL，通过JDBC进行数据访问，并使用Maven进行项目管理。整个系统基于Java 21开发，确保了其稳定性和可维护性。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系统的核心数据模型。我们抽象出了六个主要实体：出版社、地区、图书、复本、读者和借阅记录。每个实体都有其特定的属性，例如图书包含ISBN、书名、作者等，这些属性构成了我们数据库表设计的基础。特别要注意PK代表主键，是每个实体的唯一标识，FK代表外键，它建立了不同实体间的联系，比如“借阅记录”通过外键连接了“读者”和“图书”，从而构建了整个系统的逻辑网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实体之间并非孤立，而是存在着紧密的联系。例如，一个出版社对应多本图书，一本图书又对应多个复本。这种一对多的关系贯穿整个模型，最终通过借阅记录将读者和图书复本连接起来，形成了完整的业务逻辑闭环。这张E-R关系图不仅清晰地展示了各数据实体间的映射，也为后续的数据库设计提供了坚实的逻辑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刚才的E-R模型，我们设计了六张核心的数据表。这些表分别对应出版社、地区、图书、复本、读者和借阅记录。通过合理的主键和外键设计，我们确保了数据库的完整性和数据一致性。详细的字段设计可以在项目文档中查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一些核心代码。首先是数据库工具类DatabaseUtil，它封装了所有的JDBC操作，提供了通用的增删改查方法。例如，左侧展示的executeUpdate方法，专门用于处理插入、更新、删除等变更操作，通过参数化查询避免了SQL注入风险。右侧的executeQuery方法，则用于执行查询操作，并将数据库返回的ResultSet结果集，统一转换为List&lt;Map&gt;格式，便于上层业务逻辑直接使用。这种封装大大提高了代码的复用性和系统的可维护性，也规范了项目中的数据库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这个系统并非完美。作为一个课程设计，它存在一些明显的缺点。首先是架构上的局限，作为桌面应用，它的使用场景受限。其次，在安全性方面，密码存储和权限控制还有很大提升空间。功能上也相对基础，缺少一些智能化的模块。最后，在性能方面，直接使用JDBC且缺乏缓存机制，在数据量大时可能成为瓶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不足，我们对未来的优化方向进行了展望。首先是架构升级，将系统从桌面应用转变为Web应用，实现随时随地访问。其次，在安全、功能和性能方面进行全面提升，例如引入智能推荐、数据可视化，并使用Redis等技术优化性能，最终构建一个更强大、更智能的图书馆管理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我的汇报到此结束，感谢大家的聆听。如果大家有任何问题，欢迎提问。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2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.jpe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jpe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jpe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5.svg"/><Relationship Id="rId5" Type="http://schemas.openxmlformats.org/officeDocument/2006/relationships/image" Target="../media/image35.svg"/><Relationship Id="rId10" Type="http://schemas.openxmlformats.org/officeDocument/2006/relationships/image" Target="../media/image4.png"/><Relationship Id="rId4" Type="http://schemas.openxmlformats.org/officeDocument/2006/relationships/image" Target="../media/image34.png"/><Relationship Id="rId9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jpe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43.svg"/><Relationship Id="rId5" Type="http://schemas.openxmlformats.org/officeDocument/2006/relationships/image" Target="../media/image39.svg"/><Relationship Id="rId10" Type="http://schemas.openxmlformats.org/officeDocument/2006/relationships/image" Target="../media/image42.png"/><Relationship Id="rId4" Type="http://schemas.openxmlformats.org/officeDocument/2006/relationships/image" Target="../media/image38.png"/><Relationship Id="rId9" Type="http://schemas.openxmlformats.org/officeDocument/2006/relationships/image" Target="../media/image4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图书馆管理系统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数据库课程设计汇报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日期：2026年5月19日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006600"/>
            <a:ext cx="1016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159000" y="2006600"/>
            <a:ext cx="3556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设计初衷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告别混乱，拥抱高效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2006600"/>
            <a:ext cx="1016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0" y="2006600"/>
            <a:ext cx="3556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系统技术栈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构建现代化桌面应用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3657600"/>
            <a:ext cx="1016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159000" y="3657600"/>
            <a:ext cx="3556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实体与E-R图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系统的核心数据模型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3429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13500" y="3657600"/>
            <a:ext cx="1016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0" y="3657600"/>
            <a:ext cx="3556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结构化数据的基石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3365500" cy="1397000"/>
          </a:xfrm>
          <a:prstGeom prst="roundRect">
            <a:avLst>
              <a:gd name="adj" fmla="val 7272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000" y="5308600"/>
            <a:ext cx="762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78000" y="5308600"/>
            <a:ext cx="215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核心代码展示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关键功能实现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406900" y="5080000"/>
            <a:ext cx="3365500" cy="1397000"/>
          </a:xfrm>
          <a:prstGeom prst="roundRect">
            <a:avLst>
              <a:gd name="adj" fmla="val 7272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533900" y="5308600"/>
            <a:ext cx="762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422900" y="5308600"/>
            <a:ext cx="215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系统缺点分析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反思与改进空间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064500" y="5080000"/>
            <a:ext cx="3365500" cy="1397000"/>
          </a:xfrm>
          <a:prstGeom prst="roundRect">
            <a:avLst>
              <a:gd name="adj" fmla="val 7272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191500" y="5308600"/>
            <a:ext cx="762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080500" y="5308600"/>
            <a:ext cx="215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迈向智能化与平台化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0F14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01 设计初衷：传统人工管理的困境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4565" r="14565"/>
          <a:stretch>
            <a:fillRect/>
          </a:stretch>
        </p:blipFill>
        <p:spPr>
          <a:xfrm>
            <a:off x="762000" y="2032000"/>
            <a:ext cx="4318000" cy="4064000"/>
          </a:xfrm>
          <a:prstGeom prst="rect">
            <a:avLst/>
          </a:prstGeom>
          <a:noFill/>
          <a:ln w="25400" cap="flat" cmpd="sng">
            <a:solidFill>
              <a:srgbClr val="FFD700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461000" y="1905000"/>
            <a:ext cx="5969000" cy="1460500"/>
          </a:xfrm>
          <a:prstGeom prst="roundRect">
            <a:avLst>
              <a:gd name="adj" fmla="val 6956"/>
            </a:avLst>
          </a:prstGeom>
          <a:solidFill>
            <a:srgbClr val="2A2A2E">
              <a:alpha val="85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2159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604000" y="20320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效率低下，耗时耗力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图书借阅、归还、盘点等操作依赖手工，流程繁琐；管理员疲于重复劳动，易出错且无暇提供优质服务。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5461000" y="3556000"/>
            <a:ext cx="5969000" cy="1460500"/>
          </a:xfrm>
          <a:prstGeom prst="roundRect">
            <a:avLst>
              <a:gd name="adj" fmla="val 6956"/>
            </a:avLst>
          </a:prstGeom>
          <a:solidFill>
            <a:srgbClr val="2A2A2E">
              <a:alpha val="85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0" y="3810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04000" y="36830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数据混乱，难以追溯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纸质记录易丢失、损坏且不便查阅；借阅率统计、热门排行分析及借阅历史查询，缺乏有效的数据支持手段。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461000" y="5080000"/>
            <a:ext cx="5969000" cy="1460500"/>
          </a:xfrm>
          <a:prstGeom prst="roundRect">
            <a:avLst>
              <a:gd name="adj" fmla="val 6956"/>
            </a:avLst>
          </a:prstGeom>
          <a:solidFill>
            <a:srgbClr val="2A2A2E">
              <a:alpha val="85000"/>
            </a:srgbClr>
          </a:solidFill>
          <a:ln w="12700" cap="flat" cmpd="sng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0" y="5334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604000" y="52070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信息孤岛，服务滞后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读者无法便捷查询、预约或续借图书；管理员难以掌握实时流通状态，导致图书资源利用率低，体验不佳。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01 设计初衷：本项目的目标与定位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1F2329">
              <a:alpha val="90000"/>
            </a:srgbClr>
          </a:solidFill>
          <a:ln w="25400" cap="flat" cmpd="sng">
            <a:solidFill>
              <a:srgbClr val="FFD700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5000" y="2413000"/>
            <a:ext cx="1016000" cy="1016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683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化繁为简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572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开发一个</a:t>
            </a:r>
            <a:r>
              <a:rPr lang="en-US" sz="13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轻量、易用、功能完整</a:t>
            </a: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的图书馆管理系统，覆盖图书管理的核心业务流程，确保操作界面直观，降低学习成本。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1F2329">
              <a:alpha val="90000"/>
            </a:srgbClr>
          </a:solidFill>
          <a:ln w="25400" cap="flat" cmpd="sng">
            <a:solidFill>
              <a:srgbClr val="FFD700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8000" y="2413000"/>
            <a:ext cx="1016000" cy="1016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3683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流程闭环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4572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</a:t>
            </a:r>
            <a:r>
              <a:rPr lang="en-US" sz="13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</a:t>
            </a: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3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读者</a:t>
            </a: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双角色操作，打通图书入库、读者注册、借阅、归还及续借全链路，实现业务数字化闭环管理。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1F2329">
              <a:alpha val="90000"/>
            </a:srgbClr>
          </a:solidFill>
          <a:ln w="25400" cap="flat" cmpd="sng">
            <a:solidFill>
              <a:srgbClr val="FFD700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71000" y="2413000"/>
            <a:ext cx="1016000" cy="1016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255000" y="3683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4572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综合运用</a:t>
            </a:r>
            <a:r>
              <a:rPr lang="en-US" sz="13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JavaFX</a:t>
            </a: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3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MySQL</a:t>
            </a: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3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JDBC</a:t>
            </a: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技术栈，在实战中深入理解并掌握数据库设计、开发逻辑及前后端交互的核心原理。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系统技术栈：构建现代化桌面应用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本系统采用成熟、稳定且高效的技术栈，确保了系统的健壮性和可维护性，全方位保障业务流畅运行。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2032000" cy="3937000"/>
          </a:xfrm>
          <a:prstGeom prst="roundRect">
            <a:avLst>
              <a:gd name="adj" fmla="val 5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9134" b="9134"/>
          <a:stretch>
            <a:fillRect/>
          </a:stretch>
        </p:blipFill>
        <p:spPr>
          <a:xfrm>
            <a:off x="952500" y="2667000"/>
            <a:ext cx="1651000" cy="1079500"/>
          </a:xfrm>
          <a:prstGeom prst="roundRect">
            <a:avLst>
              <a:gd name="adj" fmla="val 705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3937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UI 界面层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572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JavaFX 21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5207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构建现代化、响应式的图形用户界面，提供流畅交互体验。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048000" y="2413000"/>
            <a:ext cx="2032000" cy="3937000"/>
          </a:xfrm>
          <a:prstGeom prst="roundRect">
            <a:avLst>
              <a:gd name="adj" fmla="val 5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t="961" b="961"/>
          <a:stretch>
            <a:fillRect/>
          </a:stretch>
        </p:blipFill>
        <p:spPr>
          <a:xfrm>
            <a:off x="3238500" y="2667000"/>
            <a:ext cx="1651000" cy="1079500"/>
          </a:xfrm>
          <a:prstGeom prst="roundRect">
            <a:avLst>
              <a:gd name="adj" fmla="val 705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3048000" y="3937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048000" y="4572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8.0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175000" y="5207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存储所有核心业务数据，保证数据的结构化、完整性和一致性。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2413000"/>
            <a:ext cx="2032000" cy="3937000"/>
          </a:xfrm>
          <a:prstGeom prst="roundRect">
            <a:avLst>
              <a:gd name="adj" fmla="val 5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 l="16805" t="23344" r="16422" b="13539"/>
          <a:stretch/>
        </p:blipFill>
        <p:spPr>
          <a:xfrm>
            <a:off x="5562862" y="2667000"/>
            <a:ext cx="1574276" cy="1079499"/>
          </a:xfrm>
          <a:prstGeom prst="roundRect">
            <a:avLst>
              <a:gd name="adj" fmla="val 705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5334000" y="3937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34000" y="4572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JDBC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461000" y="5207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建立稳定的连接通道，高效实现数据的增、删、改、查(CRUD)操作。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0" y="2413000"/>
            <a:ext cx="2032000" cy="3937000"/>
          </a:xfrm>
          <a:prstGeom prst="roundRect">
            <a:avLst>
              <a:gd name="adj" fmla="val 5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rcRect t="6410" b="6410"/>
          <a:stretch>
            <a:fillRect/>
          </a:stretch>
        </p:blipFill>
        <p:spPr>
          <a:xfrm>
            <a:off x="7810500" y="2667000"/>
            <a:ext cx="1651000" cy="1079500"/>
          </a:xfrm>
          <a:prstGeom prst="roundRect">
            <a:avLst>
              <a:gd name="adj" fmla="val 705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7620000" y="3937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项目构建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0" y="4572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Maven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747000" y="5207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高效的项目依赖管理工具，实现构建自动化，提升开发协作效率。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906000" y="2413000"/>
            <a:ext cx="2032000" cy="3937000"/>
          </a:xfrm>
          <a:prstGeom prst="roundRect">
            <a:avLst>
              <a:gd name="adj" fmla="val 5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rcRect t="948" b="948"/>
          <a:stretch>
            <a:fillRect/>
          </a:stretch>
        </p:blipFill>
        <p:spPr>
          <a:xfrm>
            <a:off x="10096500" y="2667000"/>
            <a:ext cx="1651000" cy="1079500"/>
          </a:xfrm>
          <a:prstGeom prst="roundRect">
            <a:avLst>
              <a:gd name="adj" fmla="val 705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9906000" y="3937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开发语言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906000" y="4572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Java 21 LTS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033000" y="5207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利用先进的面向对象特性，构建稳定、高性能、易于扩展的后端应用。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0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 实体属性与E-R图：主要实体及其属性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系统的核心是其数据模型，它定义了现实世界中图书馆业务的关键实体与关联关系。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2032000"/>
          </a:xfrm>
          <a:prstGeom prst="roundRect">
            <a:avLst>
              <a:gd name="adj" fmla="val 0"/>
            </a:avLst>
          </a:prstGeom>
          <a:solidFill>
            <a:srgbClr val="19191E">
              <a:alpha val="9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349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1. 出版社 (Publisher)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属性:</a:t>
            </a:r>
            <a:r>
              <a:rPr lang="en-US" sz="12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publisher_id (PK),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publisher_name, address, phone, contact_person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2159000"/>
            <a:ext cx="3302000" cy="2032000"/>
          </a:xfrm>
          <a:prstGeom prst="roundRect">
            <a:avLst>
              <a:gd name="adj" fmla="val 0"/>
            </a:avLst>
          </a:prstGeom>
          <a:solidFill>
            <a:srgbClr val="19191E">
              <a:alpha val="9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35500" y="2349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2. 地区 (Region)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属性:</a:t>
            </a:r>
            <a:r>
              <a:rPr lang="en-US" sz="12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region_code (PK),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region_name</a:t>
            </a:r>
          </a:p>
        </p:txBody>
      </p:sp>
      <p:sp>
        <p:nvSpPr>
          <p:cNvPr id="9" name="AutoShape 9"/>
          <p:cNvSpPr/>
          <p:nvPr/>
        </p:nvSpPr>
        <p:spPr>
          <a:xfrm>
            <a:off x="8128000" y="2159000"/>
            <a:ext cx="3302000" cy="2032000"/>
          </a:xfrm>
          <a:prstGeom prst="roundRect">
            <a:avLst>
              <a:gd name="adj" fmla="val 0"/>
            </a:avLst>
          </a:prstGeom>
          <a:solidFill>
            <a:srgbClr val="19191E">
              <a:alpha val="9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318500" y="2349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3. 图书 (Book)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属性:</a:t>
            </a:r>
            <a:r>
              <a:rPr lang="en-US" sz="12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book_id (PK),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category, title, author,</a:t>
            </a:r>
            <a:r>
              <a:rPr lang="en-US" sz="1200" b="0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publisher_id (FK)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445000"/>
            <a:ext cx="3302000" cy="2032000"/>
          </a:xfrm>
          <a:prstGeom prst="roundRect">
            <a:avLst>
              <a:gd name="adj" fmla="val 0"/>
            </a:avLst>
          </a:prstGeom>
          <a:solidFill>
            <a:srgbClr val="19191E">
              <a:alpha val="9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52500" y="4635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4. 复本 (Book_Copy)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属性:</a:t>
            </a:r>
            <a:r>
              <a:rPr lang="en-US" sz="12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book_id (PK), copy_id (PK),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status (在馆/借出/遗失等)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445000" y="4445000"/>
            <a:ext cx="3302000" cy="2032000"/>
          </a:xfrm>
          <a:prstGeom prst="roundRect">
            <a:avLst>
              <a:gd name="adj" fmla="val 0"/>
            </a:avLst>
          </a:prstGeom>
          <a:solidFill>
            <a:srgbClr val="19191E">
              <a:alpha val="9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635500" y="4635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5. 读者 (Reader)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属性:</a:t>
            </a:r>
            <a:r>
              <a:rPr lang="en-US" sz="12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reader_account (PK),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password, reader_name, gender,</a:t>
            </a:r>
            <a:r>
              <a:rPr lang="en-US" sz="1200" b="0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region_code (FK)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4445000"/>
            <a:ext cx="3302000" cy="2032000"/>
          </a:xfrm>
          <a:prstGeom prst="roundRect">
            <a:avLst>
              <a:gd name="adj" fmla="val 0"/>
            </a:avLst>
          </a:prstGeom>
          <a:solidFill>
            <a:srgbClr val="19191E">
              <a:alpha val="95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318500" y="4635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6. 借阅记录 (Borrow_Record)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属性:</a:t>
            </a:r>
            <a:r>
              <a:rPr lang="en-US" sz="11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record_id (PK),</a:t>
            </a:r>
            <a:r>
              <a:rPr lang="en-US" sz="1100" b="0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reader_account (FK), book_id (FK), copy_id (FK),</a:t>
            </a:r>
            <a:r>
              <a:rPr lang="en-US" sz="11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borrow_date, due_date, return_date, renewal_count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 实体属性与E-R图：实体关系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CEFF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各实体之间的关系构成了系统的业务逻辑核心，清晰地反映了图书馆业务中“一本图书有多份，一个读者借多本”的核心逻辑。通过实体间严谨的映射，构建了稳定的数据支撑骨架。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41414">
              <a:alpha val="90000"/>
            </a:srgbClr>
          </a:solidFill>
          <a:ln w="25400" cap="flat" cmpd="sng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7305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publisher</a:t>
            </a:r>
            <a:r>
              <a:rPr lang="en-US" sz="16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── 1:N ──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book</a:t>
            </a:r>
            <a:r>
              <a:rPr lang="en-US" sz="16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── 1:N ──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book_copy</a:t>
            </a:r>
            <a:r>
              <a:rPr lang="en-US" sz="16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── 1:N ──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borrow_record</a:t>
            </a:r>
            <a:r>
              <a:rPr lang="en-US" sz="16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── N:1 ──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reader</a:t>
            </a:r>
            <a:r>
              <a:rPr lang="en-US" sz="1600" b="0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── N:1 ──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region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064000"/>
            <a:ext cx="1981200" cy="2286000"/>
          </a:xfrm>
          <a:prstGeom prst="roundRect">
            <a:avLst>
              <a:gd name="adj" fmla="val 5128"/>
            </a:avLst>
          </a:prstGeom>
          <a:solidFill>
            <a:srgbClr val="1F2329">
              <a:alpha val="90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4254500"/>
            <a:ext cx="172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 : N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200"/>
              </a:spcBef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出版社 → 图书</a:t>
            </a:r>
          </a:p>
          <a:p>
            <a:pPr indent="0" algn="ctr">
              <a:lnSpc>
                <a:spcPct val="108333"/>
              </a:lnSpc>
              <a:spcBef>
                <a:spcPts val="15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一个出版社可以出版多本不同种类的图书，涵盖多种主题与体裁。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2933700" y="4064000"/>
            <a:ext cx="1981200" cy="2286000"/>
          </a:xfrm>
          <a:prstGeom prst="roundRect">
            <a:avLst>
              <a:gd name="adj" fmla="val 5128"/>
            </a:avLst>
          </a:prstGeom>
          <a:solidFill>
            <a:srgbClr val="1F2329">
              <a:alpha val="90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060700" y="4254500"/>
            <a:ext cx="172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 : N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200"/>
              </a:spcBef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图书 → 复本</a:t>
            </a:r>
          </a:p>
          <a:p>
            <a:pPr indent="0" algn="ctr">
              <a:lnSpc>
                <a:spcPct val="108333"/>
              </a:lnSpc>
              <a:spcBef>
                <a:spcPts val="15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一本图书通常拥有多个物理实体复本，以满足多位读者同时借阅的需求。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105400" y="4064000"/>
            <a:ext cx="1981200" cy="2286000"/>
          </a:xfrm>
          <a:prstGeom prst="roundRect">
            <a:avLst>
              <a:gd name="adj" fmla="val 5128"/>
            </a:avLst>
          </a:prstGeom>
          <a:solidFill>
            <a:srgbClr val="1F2329">
              <a:alpha val="90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232400" y="4254500"/>
            <a:ext cx="172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 : N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200"/>
              </a:spcBef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复本 → 借阅记录</a:t>
            </a:r>
          </a:p>
          <a:p>
            <a:pPr indent="0" algn="ctr">
              <a:lnSpc>
                <a:spcPct val="108333"/>
              </a:lnSpc>
              <a:spcBef>
                <a:spcPts val="15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每一个实体复本，在其生命周期内可以被不同的读者多次借出与归还。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277100" y="4064000"/>
            <a:ext cx="1981200" cy="2286000"/>
          </a:xfrm>
          <a:prstGeom prst="roundRect">
            <a:avLst>
              <a:gd name="adj" fmla="val 5128"/>
            </a:avLst>
          </a:prstGeom>
          <a:solidFill>
            <a:srgbClr val="1F2329">
              <a:alpha val="90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404100" y="4254500"/>
            <a:ext cx="172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N : 1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200"/>
              </a:spcBef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借阅记录 → 读者</a:t>
            </a:r>
          </a:p>
          <a:p>
            <a:pPr indent="0" algn="ctr">
              <a:lnSpc>
                <a:spcPct val="108333"/>
              </a:lnSpc>
              <a:spcBef>
                <a:spcPts val="15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一位读者在馆期间，可产生多条借阅记录，分别对应不同的图书复本。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448800" y="4064000"/>
            <a:ext cx="1981200" cy="2286000"/>
          </a:xfrm>
          <a:prstGeom prst="roundRect">
            <a:avLst>
              <a:gd name="adj" fmla="val 5128"/>
            </a:avLst>
          </a:prstGeom>
          <a:solidFill>
            <a:srgbClr val="1F2329">
              <a:alpha val="90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75800" y="4254500"/>
            <a:ext cx="172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N : 1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200"/>
              </a:spcBef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读者 → 地区</a:t>
            </a:r>
          </a:p>
          <a:p>
            <a:pPr indent="0" algn="ctr">
              <a:lnSpc>
                <a:spcPct val="108333"/>
              </a:lnSpc>
              <a:spcBef>
                <a:spcPts val="15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同一区域（如城市、学校或社区）可以包含多位读者，方便进行分区管理。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0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04 数据库设计：核心表结构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基于E-R模型，我们设计了6张核心数据表，通过主键和外键约束保证了数据的完整性和一致性。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2000" y="2413000"/>
            <a:ext cx="3048000" cy="3048000"/>
          </a:xfrm>
          <a:prstGeom prst="rect">
            <a:avLst/>
          </a:prstGeom>
          <a:noFill/>
          <a:ln w="25400" cap="flat" cmpd="sng">
            <a:solidFill>
              <a:srgbClr val="FFD700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4191000" y="2286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500" y="2603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207000" y="2476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出版社表 (publisher)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存储出版社信息，作为图书来源的维度表。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874000" y="2286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500" y="2603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890000" y="2476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地区表 (region)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存储省/市/区等地区信息，关联出版社与读者。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191000" y="3810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1500" y="4127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4000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图书表 (book)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存储图书核心元信息，如ISBN、书名、作者、价格等。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874000" y="3810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4500" y="4127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4000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复本表 (book_copy)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存储图书的每一个物理副本及当前的可借阅状态。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191000" y="5207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81500" y="5524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207000" y="5397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读者表 (reader)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存储读者个人信息、联系方式及注册账号信息。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874000" y="5207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1E1E23">
              <a:alpha val="90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64500" y="55245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890000" y="5397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借阅记录表 (borrow_record)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记录每一次借阅与归还的详细行为日志。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0F14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05 核心代码展示：数据库工具类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DatabaseUtil.java 封装了所有 JDBC 底层操作，是连接应用逻辑与数据库的枢纽，提供通用的 CRUD 方法以提升代码复用性。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207000" cy="3810000"/>
          </a:xfrm>
          <a:prstGeom prst="roundRect">
            <a:avLst>
              <a:gd name="adj" fmla="val 4000"/>
            </a:avLst>
          </a:prstGeom>
          <a:solidFill>
            <a:srgbClr val="14161A">
              <a:alpha val="92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730500"/>
            <a:ext cx="4826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FD7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关键方法: 执行增删改操作 (executeUpdate)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static boolean executeUpdate(String sql, Object... params) {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Connection conn = null; PreparedStatement pstmt = null;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try {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conn = getConnection(); // 获取连接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pstmt = conn.prepareStatement(sql);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参数注入与执行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 (int i = 0; i &lt; params.length; i++) pstmt.setObject(i+1, params[i]);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pstmt.executeUpdate() &gt; 0;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 catch (SQLException e) { e.printStackTrace(); return false; }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finally { close(conn, pstmt); } // 释放资源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2540000"/>
            <a:ext cx="5207000" cy="3810000"/>
          </a:xfrm>
          <a:prstGeom prst="roundRect">
            <a:avLst>
              <a:gd name="adj" fmla="val 4000"/>
            </a:avLst>
          </a:prstGeom>
          <a:solidFill>
            <a:srgbClr val="14161A">
              <a:alpha val="92000"/>
            </a:srgbClr>
          </a:solidFill>
          <a:ln w="12700" cap="flat" cmpd="sng">
            <a:solidFill>
              <a:srgbClr val="FFD7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2730500"/>
            <a:ext cx="4826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FD7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关键方法: 执行查询并返回 Map 列表 (executeQuery)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static List&lt;Map&lt;String, Object&gt;&gt; executeQuery(String sql, Object... params) {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List&lt;Map&lt;String, Object&gt;&gt; list = new ArrayList&lt;&gt;();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Connection conn = null; PreparedStatement pstmt = null; ResultSet rs = null;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try {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conn = getConnection(); pstmt = conn.prepareStatement(sql);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预编译参数绑定与执行查询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 (int i = 0; i &lt; params.length; i++) pstmt.setObject(i+1, params[i]);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rs = pstmt.executeQuery();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... 将 ResultSet 结果集解析并封装到 Map 中 ...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 catch (SQLException e) { e.printStackTrace(); }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finally { close(conn, pstmt, rs); }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list; // 返回查询结果列表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21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06 当前系统缺点：反思与改进空间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1E26">
              <a:alpha val="90000"/>
            </a:srgbClr>
          </a:solidFill>
          <a:ln w="12700" cap="flat" cmpd="sng">
            <a:solidFill>
              <a:srgbClr val="FFD7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22500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2032000"/>
            <a:ext cx="368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架构局限：桌面应用的束缚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系统仅支持单机本地运行，未实现B/S架构改造，无法支持多终端接入与跨地域访问，限制了灵活性和场景适用性。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1E26">
              <a:alpha val="90000"/>
            </a:srgbClr>
          </a:solidFill>
          <a:ln w="12700" cap="flat" cmpd="sng">
            <a:solidFill>
              <a:srgbClr val="FFD7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222500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93000" y="2032000"/>
            <a:ext cx="368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安全隐患：基础的安全设计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用户密码未加密存在明文风险，角色权限控制颗粒度过粗，且未针对外部攻击实现防SQL注入和XSS过滤机制。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1E26">
              <a:alpha val="90000"/>
            </a:srgbClr>
          </a:solidFill>
          <a:ln w="12700" cap="flat" cmpd="sng">
            <a:solidFill>
              <a:srgbClr val="FFD7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6355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32000" y="4445000"/>
            <a:ext cx="368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功能局限：核心流程的实现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功能仅满足图书借还的基础闭环，缺乏图书逾期自动提醒、个性化推荐、多维度运营报表等提升体验的高级功能。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1E26">
              <a:alpha val="90000"/>
            </a:srgbClr>
          </a:solidFill>
          <a:ln w="12700" cap="flat" cmpd="sng">
            <a:solidFill>
              <a:srgbClr val="FFD7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6355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93000" y="4445000"/>
            <a:ext cx="368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性能瓶颈：JDBC直连与缺乏缓存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业务操作均通过JDBC直接访问数据库，且未对高频热点数据做Redis缓存处理，高并发场景下会显著增加数据库压力。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07 未来展望：迈向智能化与平台化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222500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95500" y="2032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架构升级：从桌面到Web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重构为</a:t>
            </a:r>
            <a:r>
              <a:rPr lang="en-US" sz="1300" b="1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B/S 架构</a:t>
            </a: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，采用 Spring Boot + Vue.js 等前后端分离技术，实现系统的网络化部署，打破使用场景限制。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222500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556500" y="2032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安全加固：全方位安全体系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引入高强度密码加密机制与 ORM 框架防止注入，同时完善基于</a:t>
            </a:r>
            <a:r>
              <a:rPr lang="en-US" sz="1300" b="1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RBAC (基于角色的访问控制)</a:t>
            </a: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的权限体系，确保数据与系统安全。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46355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95500" y="4445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功能扩展：智能化与个性化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增加书籍与借阅的</a:t>
            </a:r>
            <a:r>
              <a:rPr lang="en-US" sz="1300" b="1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</a:t>
            </a: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、自动化逾期提醒，并构建多维度的数据分析与可视化看板，实现管理与服务的双重升级。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1C1C1E">
              <a:alpha val="85000"/>
            </a:srgbClr>
          </a:solidFill>
          <a:ln w="12700" cap="flat" cmpd="sng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46355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556500" y="4445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性能优化：引入缓存与异步处理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</a:t>
            </a:r>
            <a:r>
              <a:rPr lang="en-US" sz="1300" b="1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Redis</a:t>
            </a:r>
            <a:r>
              <a:rPr lang="en-US" sz="1300" b="0" i="0" u="none" strike="noStrike">
                <a:solidFill>
                  <a:srgbClr val="EBEB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处理热点数据缓存，大幅提升查询速度；利用消息队列对邮件发送等耗时操作进行异步处理，保障系统高并发下的稳定运行。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31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1304</Words>
  <Application>Microsoft Office PowerPoint</Application>
  <PresentationFormat>宽屏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Noto Sans SC</vt:lpstr>
      <vt:lpstr>Arial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TouMing</dc:creator>
  <cp:lastModifiedBy>彤 甘</cp:lastModifiedBy>
  <cp:revision>4</cp:revision>
  <dcterms:modified xsi:type="dcterms:W3CDTF">2026-05-23T04:27:51Z</dcterms:modified>
</cp:coreProperties>
</file>